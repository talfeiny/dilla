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Mercury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45</c:v>
                </c:pt>
                <c:pt idx="2">
                  <c:v>70</c:v>
                </c:pt>
                <c:pt idx="3">
                  <c:v>85</c:v>
                </c:pt>
                <c:pt idx="4">
                  <c:v>100</c:v>
                </c:pt>
                <c:pt idx="5">
                  <c:v>120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Brex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90</c:v>
                </c:pt>
                <c:pt idx="4">
                  <c:v>105</c:v>
                </c:pt>
                <c:pt idx="5">
                  <c:v>130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DPI Progress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Current DPI</c:v>
                </c:pt>
                <c:pt idx="1">
                  <c:v>Mercury Exit</c:v>
                </c:pt>
                <c:pt idx="2">
                  <c:v>Brex Exit</c:v>
                </c:pt>
                <c:pt idx="3">
                  <c:v>Remaining Portfolio</c:v>
                </c:pt>
                <c:pt idx="4">
                  <c:v>Target DPI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0.48</c:v>
                </c:pt>
                <c:pt idx="2">
                  <c:v>0.31</c:v>
                </c:pt>
                <c:pt idx="3">
                  <c:v>1.01</c:v>
                </c:pt>
                <c:pt idx="4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Export Test Suite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All Fixed Features</a:t>
            </a:r>
          </a:p>
          <a:p>
            <a:r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Mercury: $1.65B post-money valuation, 12.5x revenue multiple</a:t>
            </a:r>
          </a:p>
          <a:p>
            <a:pPr/>
            <a:r>
              <a:t>Brex: $2.1B valuation, 15x revenue multiple</a:t>
            </a:r>
          </a:p>
          <a:p>
            <a:pPr/>
            <a:r>
              <a:t>Combined TAM opportunity: $450B across payments and expense management</a:t>
            </a:r>
          </a:p>
          <a:p>
            <a:pPr/>
            <a:r>
              <a:t>Fund owns 2.5% of Mercury, 1.8% of Brex from Series 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Investment Recommendations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371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  <a:gridCol w="3429000"/>
                <a:gridCol w="3429000"/>
              </a:tblGrid>
              <a:tr h="152400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Mercury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Brex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Path to $100M ARR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TAM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Cap Table Evolution - Mercury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Exit Scenario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Fund Return Impact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1. Pitchbook Banking Market Report, Q3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2. Gartner Expense Management Magic Quadrant,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3. CB Insights Fintech Report, October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4. Mercury SEC Form D Filing, Series C, June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5. Brex Investor Presentation, Series D, September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6. BLS Labor Statistics - Financial Services,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7. IDC SaaS Market Forecast 2024-2028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8. TechCrunch Mercury Valuation Article, July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9. Forbes Brex Profile, August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10. Company interviews and primary research, Q4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