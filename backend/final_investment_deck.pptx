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ARR Growth Projection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Mercury (1% YoY)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Now</c:v>
                </c:pt>
                <c:pt idx="1">
                  <c:v>Year 1</c:v>
                </c:pt>
                <c:pt idx="2">
                  <c:v>Year 2</c:v>
                </c:pt>
                <c:pt idx="3">
                  <c:v>Year 3</c:v>
                </c:pt>
                <c:pt idx="4">
                  <c:v>Year 4</c:v>
                </c:pt>
                <c:pt idx="5">
                  <c:v>Year 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500.0</c:v>
                </c:pt>
                <c:pt idx="1">
                  <c:v>505.0</c:v>
                </c:pt>
                <c:pt idx="2">
                  <c:v>510.05</c:v>
                </c:pt>
                <c:pt idx="3">
                  <c:v>515.1505000000001</c:v>
                </c:pt>
                <c:pt idx="4">
                  <c:v>520.302005</c:v>
                </c:pt>
                <c:pt idx="5">
                  <c:v>525.5050250500001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Ramp (3% YoY)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Now</c:v>
                </c:pt>
                <c:pt idx="1">
                  <c:v>Year 1</c:v>
                </c:pt>
                <c:pt idx="2">
                  <c:v>Year 2</c:v>
                </c:pt>
                <c:pt idx="3">
                  <c:v>Year 3</c:v>
                </c:pt>
                <c:pt idx="4">
                  <c:v>Year 4</c:v>
                </c:pt>
                <c:pt idx="5">
                  <c:v>Year 5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1000.0</c:v>
                </c:pt>
                <c:pt idx="1">
                  <c:v>1030.0</c:v>
                </c:pt>
                <c:pt idx="2">
                  <c:v>1060.9</c:v>
                </c:pt>
                <c:pt idx="3">
                  <c:v>1092.727</c:v>
                </c:pt>
                <c:pt idx="4">
                  <c:v>1125.5088100000003</c:v>
                </c:pt>
                <c:pt idx="5">
                  <c:v>1159.2740743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Exit Multiple Impact on Fund DPI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DPI Contribution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0.0x</c:v>
                </c:pt>
                <c:pt idx="1">
                  <c:v>0.3x</c:v>
                </c:pt>
                <c:pt idx="2">
                  <c:v>0.5x</c:v>
                </c:pt>
                <c:pt idx="3">
                  <c:v>0.7x</c:v>
                </c:pt>
                <c:pt idx="4">
                  <c:v>1.0x</c:v>
                </c:pt>
                <c:pt idx="5">
                  <c:v>2.0x</c:v>
                </c:pt>
                <c:pt idx="6">
                  <c:v>3.0x</c:v>
                </c:pt>
                <c:pt idx="7">
                  <c:v>5.0x</c:v>
                </c:pt>
                <c:pt idx="8">
                  <c:v>10.0x</c:v>
                </c:pt>
                <c:pt idx="9">
                  <c:v>20.0x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0.0</c:v>
                </c:pt>
                <c:pt idx="1">
                  <c:v>0.009</c:v>
                </c:pt>
                <c:pt idx="2">
                  <c:v>0.015</c:v>
                </c:pt>
                <c:pt idx="3">
                  <c:v>0.021</c:v>
                </c:pt>
                <c:pt idx="4">
                  <c:v>0.03</c:v>
                </c:pt>
                <c:pt idx="5">
                  <c:v>0.06</c:v>
                </c:pt>
                <c:pt idx="6">
                  <c:v>0.09</c:v>
                </c:pt>
                <c:pt idx="7">
                  <c:v>0.15</c:v>
                </c:pt>
                <c:pt idx="8">
                  <c:v>0.3</c:v>
                </c:pt>
                <c:pt idx="9">
                  <c:v>0.6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Required from Others for 3x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0.0x</c:v>
                </c:pt>
                <c:pt idx="1">
                  <c:v>0.3x</c:v>
                </c:pt>
                <c:pt idx="2">
                  <c:v>0.5x</c:v>
                </c:pt>
                <c:pt idx="3">
                  <c:v>0.7x</c:v>
                </c:pt>
                <c:pt idx="4">
                  <c:v>1.0x</c:v>
                </c:pt>
                <c:pt idx="5">
                  <c:v>2.0x</c:v>
                </c:pt>
                <c:pt idx="6">
                  <c:v>3.0x</c:v>
                </c:pt>
                <c:pt idx="7">
                  <c:v>5.0x</c:v>
                </c:pt>
                <c:pt idx="8">
                  <c:v>10.0x</c:v>
                </c:pt>
                <c:pt idx="9">
                  <c:v>20.0x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6.25</c:v>
                </c:pt>
                <c:pt idx="1">
                  <c:v>6.23125</c:v>
                </c:pt>
                <c:pt idx="2">
                  <c:v>6.21875</c:v>
                </c:pt>
                <c:pt idx="3">
                  <c:v>6.20625</c:v>
                </c:pt>
                <c:pt idx="4">
                  <c:v>6.1875</c:v>
                </c:pt>
                <c:pt idx="5">
                  <c:v>6.125</c:v>
                </c:pt>
                <c:pt idx="6">
                  <c:v>6.0625</c:v>
                </c:pt>
                <c:pt idx="7">
                  <c:v>5.9375</c:v>
                </c:pt>
                <c:pt idx="8">
                  <c:v>5.625</c:v>
                </c:pt>
                <c:pt idx="9">
                  <c:v>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Investment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Analysis of 2 companies</a:t>
            </a:r>
          </a:p>
          <a:p>
            <a:r>
              <a:t>September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Mercury: Series C stage, $500M ARR at 6.3x revenue multiple (Fund Fit: 57/100)</a:t>
            </a:r>
          </a:p>
          <a:p>
            <a:pPr/>
            <a:r>
              <a:t>Ramp: Late Stage stage, $1.0B ARR at 4.2x revenue multiple (Fund Fit: 56/100)</a:t>
            </a:r>
          </a:p>
          <a:p>
            <a:pPr/>
            <a:r>
              <a:t>Labor replacement opportunity: $2079B addressable labor market</a:t>
            </a:r>
          </a:p>
          <a:p>
            <a:pPr/>
            <a:r>
              <a:t>Proposed deployment: $16M across 2 companies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Company Overview &amp; Financials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Founder &amp; Team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Path to Unicorn Status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828800"/>
          <a:ext cx="128016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Analysis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Company Comparison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13716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/>
                <a:gridCol w="3429000"/>
                <a:gridCol w="3429000"/>
                <a:gridCol w="3429000"/>
              </a:tblGrid>
              <a:tr h="1524000">
                <a:tc>
                  <a:txBody>
                    <a:bodyPr/>
                    <a:lstStyle/>
                    <a:p>
                      <a:r>
                        <a:t>Company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Stage</a:t>
                      </a:r>
                    </a:p>
                  </a:txBody>
                  <a:tcPr/>
                </a:tc>
              </a:tr>
              <a:tr h="1524000">
                <a:tc>
                  <a:txBody>
                    <a:bodyPr/>
                    <a:lstStyle/>
                    <a:p>
                      <a:r>
                        <a:t>Mercury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$3,164,062,500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$500,000,000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Series C</a:t>
                      </a:r>
                    </a:p>
                  </a:txBody>
                  <a:tcPr/>
                </a:tc>
              </a:tr>
              <a:tr h="1524000">
                <a:tc>
                  <a:txBody>
                    <a:bodyPr/>
                    <a:lstStyle/>
                    <a:p>
                      <a:r>
                        <a:t>Ramp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$4,218,750,000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$1,000,000,000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Late Stage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TAM Pincer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Cap Table Evolution - Mercury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Cap Table Evolution - Ramp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Cap Table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Mercury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2468880"/>
          <a:ext cx="5486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From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Stake 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Founders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Founders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60.0%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Founders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Founders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27.7%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Seed Investors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Seed Investors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40.0%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Founders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Founders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10.7%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Seed Investors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Seed Investors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40.0%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Series A Investors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Series A Investors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20.0%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New Investment - Series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Sequoia Capital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0.6%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New Investment - Series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Spark Capital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0.6%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New Investment - Series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Marathon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0.6%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0" y="18288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Ramp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0" y="2468880"/>
          <a:ext cx="5486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From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Stake 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Founders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Founders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60.0%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Founders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Founders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27.7%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Seed Investors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Seed Investors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40.0%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Founders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Founders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9.4%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Seed Investors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Seed Investors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40.0%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Series A Investors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Series A Investors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20.0%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Founders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Founders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2.4%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Seed Investors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Seed Investors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40.0%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Series A Investors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Series A Investors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Exit Scenarios &amp; Ownership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Impact on $260M Fund Returns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828800"/>
          <a:ext cx="128016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Follow-on Strategy Decision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Sources &amp;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1. Unknown -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2. Unknown -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3. Unknown -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4. Unknown -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0040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5. Unknown -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6. Unknown -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1480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7. Unknown -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57200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8. Unknown -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02920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9. Unknown -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48640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10. Unknown -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