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ARR Growth Projection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Mercury (1% YoY)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Now</c:v>
                </c:pt>
                <c:pt idx="1">
                  <c:v>Year 1</c:v>
                </c:pt>
                <c:pt idx="2">
                  <c:v>Year 2</c:v>
                </c:pt>
                <c:pt idx="3">
                  <c:v>Year 3</c:v>
                </c:pt>
                <c:pt idx="4">
                  <c:v>Year 4</c:v>
                </c:pt>
                <c:pt idx="5">
                  <c:v>Year 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500.0</c:v>
                </c:pt>
                <c:pt idx="1">
                  <c:v>505.0</c:v>
                </c:pt>
                <c:pt idx="2">
                  <c:v>510.05</c:v>
                </c:pt>
                <c:pt idx="3">
                  <c:v>515.1505000000001</c:v>
                </c:pt>
                <c:pt idx="4">
                  <c:v>520.302005</c:v>
                </c:pt>
                <c:pt idx="5">
                  <c:v>525.5050250500001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Deel (3% YoY)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Now</c:v>
                </c:pt>
                <c:pt idx="1">
                  <c:v>Year 1</c:v>
                </c:pt>
                <c:pt idx="2">
                  <c:v>Year 2</c:v>
                </c:pt>
                <c:pt idx="3">
                  <c:v>Year 3</c:v>
                </c:pt>
                <c:pt idx="4">
                  <c:v>Year 4</c:v>
                </c:pt>
                <c:pt idx="5">
                  <c:v>Year 5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800.0</c:v>
                </c:pt>
                <c:pt idx="1">
                  <c:v>824.0</c:v>
                </c:pt>
                <c:pt idx="2">
                  <c:v>848.72</c:v>
                </c:pt>
                <c:pt idx="3">
                  <c:v>874.1816</c:v>
                </c:pt>
                <c:pt idx="4">
                  <c:v>900.4070480000001</c:v>
                </c:pt>
                <c:pt idx="5">
                  <c:v>927.41925944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Exit Multiple Impact on Fund DPI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DPI Contribution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0.0x</c:v>
                </c:pt>
                <c:pt idx="1">
                  <c:v>0.3x</c:v>
                </c:pt>
                <c:pt idx="2">
                  <c:v>0.5x</c:v>
                </c:pt>
                <c:pt idx="3">
                  <c:v>0.7x</c:v>
                </c:pt>
                <c:pt idx="4">
                  <c:v>1.0x</c:v>
                </c:pt>
                <c:pt idx="5">
                  <c:v>2.0x</c:v>
                </c:pt>
                <c:pt idx="6">
                  <c:v>3.0x</c:v>
                </c:pt>
                <c:pt idx="7">
                  <c:v>5.0x</c:v>
                </c:pt>
                <c:pt idx="8">
                  <c:v>10.0x</c:v>
                </c:pt>
                <c:pt idx="9">
                  <c:v>20.0x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0.0</c:v>
                </c:pt>
                <c:pt idx="1">
                  <c:v>0.009</c:v>
                </c:pt>
                <c:pt idx="2">
                  <c:v>0.015</c:v>
                </c:pt>
                <c:pt idx="3">
                  <c:v>0.021</c:v>
                </c:pt>
                <c:pt idx="4">
                  <c:v>0.03</c:v>
                </c:pt>
                <c:pt idx="5">
                  <c:v>0.06</c:v>
                </c:pt>
                <c:pt idx="6">
                  <c:v>0.09</c:v>
                </c:pt>
                <c:pt idx="7">
                  <c:v>0.15</c:v>
                </c:pt>
                <c:pt idx="8">
                  <c:v>0.3</c:v>
                </c:pt>
                <c:pt idx="9">
                  <c:v>0.6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Required from Others for 3x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0.0x</c:v>
                </c:pt>
                <c:pt idx="1">
                  <c:v>0.3x</c:v>
                </c:pt>
                <c:pt idx="2">
                  <c:v>0.5x</c:v>
                </c:pt>
                <c:pt idx="3">
                  <c:v>0.7x</c:v>
                </c:pt>
                <c:pt idx="4">
                  <c:v>1.0x</c:v>
                </c:pt>
                <c:pt idx="5">
                  <c:v>2.0x</c:v>
                </c:pt>
                <c:pt idx="6">
                  <c:v>3.0x</c:v>
                </c:pt>
                <c:pt idx="7">
                  <c:v>5.0x</c:v>
                </c:pt>
                <c:pt idx="8">
                  <c:v>10.0x</c:v>
                </c:pt>
                <c:pt idx="9">
                  <c:v>20.0x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Investment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Analysis of 2 companies</a:t>
            </a:r>
          </a:p>
          <a:p>
            <a:r>
              <a:t>September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Mercury: Series C stage, $500M ARR at 6.3x revenue multiple (Fund Fit: 57/100)</a:t>
            </a:r>
          </a:p>
          <a:p>
            <a:pPr/>
            <a:r>
              <a:t>Deel: Late Stage stage, $800M ARR at 6.7x revenue multiple (Fund Fit: 59/100)</a:t>
            </a:r>
          </a:p>
          <a:p>
            <a:pPr/>
            <a:r>
              <a:t>Labor replacement opportunity: $2079B addressable labor market</a:t>
            </a:r>
          </a:p>
          <a:p>
            <a:pPr/>
            <a:r>
              <a:t>Proposed deployment: $4.7M across 2 companies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Overview &amp; Financials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Founder &amp; Team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Path to Unicorn Status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12801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Analysis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Company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3716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3429000"/>
                <a:gridCol w="3429000"/>
                <a:gridCol w="3429000"/>
              </a:tblGrid>
              <a:tr h="1524000">
                <a:tc>
                  <a:txBody>
                    <a:bodyPr/>
                    <a:lstStyle/>
                    <a:p>
                      <a:r>
                        <a:t>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Stage</a:t>
                      </a:r>
                    </a:p>
                  </a:txBody>
                  <a:tcPr/>
                </a:tc>
              </a:tr>
              <a:tr h="1524000">
                <a:tc>
                  <a:txBody>
                    <a:bodyPr/>
                    <a:lstStyle/>
                    <a:p>
                      <a:r>
                        <a:t>Mercury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$3,164,062,500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$500,000,000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Series C</a:t>
                      </a:r>
                    </a:p>
                  </a:txBody>
                  <a:tcPr/>
                </a:tc>
              </a:tr>
              <a:tr h="1524000">
                <a:tc>
                  <a:txBody>
                    <a:bodyPr/>
                    <a:lstStyle/>
                    <a:p>
                      <a:r>
                        <a:t>Deel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$5,378,906,250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$800,000,000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Late Stage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TAM Pincer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Cap Table Evolution - Mercury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Cap Table Evolution - Deel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Cap Table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Mercury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46888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From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Stake 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Founders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Founders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82.0%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New Investment - Series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Coatue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6.0%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New Investment - Series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CRV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6.0%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New Investment - Series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Andreessen Horowitz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6.0%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Founders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Founders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69.7%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Coatue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Coatue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2.5%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CRV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CRV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2.5%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Andreessen Horowitz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Andreessen Horowitz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2.5%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New Investment - Series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Sequoia Capital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2.5%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0" y="1828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Deel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0" y="246888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From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Stake 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Founders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Founders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85.0%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New Investment - Seed (YC)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Y Combinator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15.0%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Founders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Founders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59.6%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Y Combinator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Y Combinator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15.0%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New Investment - Series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Andreessen Horowitz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17.0%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Founders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Founders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36.2%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Y Combinator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Y Combinator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15.0%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Andreessen Horowitz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Andreessen Horowitz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3.4%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New Investment - Series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YC Continuity 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Exit Scenarios &amp; Ownership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Impact on $78M Fund Returns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12801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Follow-on Strategy Decision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Sources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1. Unknown -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2. Unknown -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3. Unknown -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4. Unknown -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5. Unknown -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6. Unknown -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7. Unknown -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8. Unknown -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292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9. Unknown -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48640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10. Unknown -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