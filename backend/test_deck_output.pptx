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Vocca AI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Q1 2023</c:v>
                </c:pt>
                <c:pt idx="1">
                  <c:v>Q2 2023</c:v>
                </c:pt>
                <c:pt idx="2">
                  <c:v>Q3 2023</c:v>
                </c:pt>
                <c:pt idx="3">
                  <c:v>Q4 2023</c:v>
                </c:pt>
                <c:pt idx="4">
                  <c:v>Q1 2024</c:v>
                </c:pt>
                <c:pt idx="5">
                  <c:v>Q2 2024</c:v>
                </c:pt>
                <c:pt idx="6">
                  <c:v>Q3 2024</c:v>
                </c:pt>
                <c:pt idx="7">
                  <c:v>Q4 2024E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</c:v>
                </c:pt>
                <c:pt idx="1">
                  <c:v>0.8</c:v>
                </c:pt>
                <c:pt idx="2">
                  <c:v>1.2</c:v>
                </c:pt>
                <c:pt idx="3">
                  <c:v>1.8</c:v>
                </c:pt>
                <c:pt idx="4">
                  <c:v>2.5</c:v>
                </c:pt>
                <c:pt idx="5">
                  <c:v>3.5</c:v>
                </c:pt>
                <c:pt idx="6">
                  <c:v>5.0</c:v>
                </c:pt>
                <c:pt idx="7">
                  <c:v>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OffDeal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Q1 2023</c:v>
                </c:pt>
                <c:pt idx="1">
                  <c:v>Q2 2023</c:v>
                </c:pt>
                <c:pt idx="2">
                  <c:v>Q3 2023</c:v>
                </c:pt>
                <c:pt idx="3">
                  <c:v>Q4 2023</c:v>
                </c:pt>
                <c:pt idx="4">
                  <c:v>Q1 2024</c:v>
                </c:pt>
                <c:pt idx="5">
                  <c:v>Q2 2024</c:v>
                </c:pt>
                <c:pt idx="6">
                  <c:v>Q3 2024</c:v>
                </c:pt>
                <c:pt idx="7">
                  <c:v>Q4 2024E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1.0</c:v>
                </c:pt>
                <c:pt idx="1">
                  <c:v>1.5</c:v>
                </c:pt>
                <c:pt idx="2">
                  <c:v>2.2</c:v>
                </c:pt>
                <c:pt idx="3">
                  <c:v>3.0</c:v>
                </c:pt>
                <c:pt idx="4">
                  <c:v>4.2</c:v>
                </c:pt>
                <c:pt idx="5">
                  <c:v>5.8</c:v>
                </c:pt>
                <c:pt idx="6">
                  <c:v>8.0</c:v>
                </c:pt>
                <c:pt idx="7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Vocca AI - Healthcare Voice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Traditional TAM</c:v>
                </c:pt>
                <c:pt idx="1">
                  <c:v>Labor TAM</c:v>
                </c:pt>
                <c:pt idx="2">
                  <c:v>Serviceable (SAM)</c:v>
                </c:pt>
                <c:pt idx="3">
                  <c:v>Obtainable (SOM)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</c:v>
                </c:pt>
                <c:pt idx="1">
                  <c:v>30000</c:v>
                </c:pt>
                <c:pt idx="2">
                  <c:v>4500</c:v>
                </c:pt>
                <c:pt idx="3">
                  <c:v>450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OffDeal - M&amp;A Automation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Traditional TAM</c:v>
                </c:pt>
                <c:pt idx="1">
                  <c:v>Labor TAM</c:v>
                </c:pt>
                <c:pt idx="2">
                  <c:v>Serviceable (SAM)</c:v>
                </c:pt>
                <c:pt idx="3">
                  <c:v>Obtainable (SOM)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20000</c:v>
                </c:pt>
                <c:pt idx="1">
                  <c:v>50000</c:v>
                </c:pt>
                <c:pt idx="2">
                  <c:v>7000</c:v>
                </c:pt>
                <c:pt idx="3">
                  <c:v>700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Vocca AI (x ARR)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Current Multiple</c:v>
                </c:pt>
                <c:pt idx="1">
                  <c:v>Industry Avg</c:v>
                </c:pt>
                <c:pt idx="2">
                  <c:v>Top Quartile</c:v>
                </c:pt>
                <c:pt idx="3">
                  <c:v>Our Target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18.75</c:v>
                </c:pt>
                <c:pt idx="1">
                  <c:v>15.0</c:v>
                </c:pt>
                <c:pt idx="2">
                  <c:v>25.0</c:v>
                </c:pt>
                <c:pt idx="3">
                  <c:v>22.0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OffDeal (x ARR)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Current Multiple</c:v>
                </c:pt>
                <c:pt idx="1">
                  <c:v>Industry Avg</c:v>
                </c:pt>
                <c:pt idx="2">
                  <c:v>Top Quartile</c:v>
                </c:pt>
                <c:pt idx="3">
                  <c:v>Our Target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16.67</c:v>
                </c:pt>
                <c:pt idx="1">
                  <c:v>12.0</c:v>
                </c:pt>
                <c:pt idx="2">
                  <c:v>20.0</c:v>
                </c:pt>
                <c:pt idx="3">
                  <c:v>18.0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Investment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Infrastructure Portfolio Review</a:t>
            </a:r>
          </a:p>
          <a:p>
            <a:r>
              <a:t>September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Analyzing 2 high-growth AI infrastructure companies for Series B investment</a:t>
            </a:r>
          </a:p>
          <a:p>
            <a:pPr/>
            <a:r>
              <a:t>Combined portfolio value potential: $2.5B by 2028 (15x MOIC)</a:t>
            </a:r>
          </a:p>
          <a:p>
            <a:pPr/>
            <a:r>
              <a:t>Focus on GPU compute and AI voice automation sectors</a:t>
            </a:r>
          </a:p>
          <a:p>
            <a:pPr/>
            <a:r>
              <a:t>Both companies showing 200%+ YoY growth with strong unit economics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Company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Vocca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Valuation: $150M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Revenue: $8M ARR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Growth: 250% YoY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Gross Margin: 75%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Burn Multiple: 0.8x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/>
            </a:pPr>
            <a:r>
              <a:t>• AI voice agents for healthcare</a:t>
            </a:r>
          </a:p>
          <a:p>
            <a:pPr>
              <a:defRPr sz="1000"/>
            </a:pPr>
            <a:r>
              <a:t>• 30% of calls fully automated</a:t>
            </a:r>
          </a:p>
          <a:p>
            <a:pPr>
              <a:defRPr sz="1000"/>
            </a:pPr>
            <a:r>
              <a:t>• $2M monthly burn rate</a:t>
            </a:r>
          </a:p>
          <a:p>
            <a:pPr>
              <a:defRPr sz="1000"/>
            </a:pPr>
            <a:r>
              <a:t>• 18 months runway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3716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OffDeal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0116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Valuation: $200M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4688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Revenue: $12M ARR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9260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Growth: 180% YoY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3832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Gross Margin: 82%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8404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Burn Multiple: 0.6x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29768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/>
            </a:pPr>
            <a:r>
              <a:t>• M&amp;A document automation</a:t>
            </a:r>
          </a:p>
          <a:p>
            <a:pPr>
              <a:defRPr sz="1000"/>
            </a:pPr>
            <a:r>
              <a:t>• Serves 50+ PE firms</a:t>
            </a:r>
          </a:p>
          <a:p>
            <a:pPr>
              <a:defRPr sz="1000"/>
            </a:pPr>
            <a:r>
              <a:t>• $1.5M monthly burn</a:t>
            </a:r>
          </a:p>
          <a:p>
            <a:pPr>
              <a:defRPr sz="1000"/>
            </a:pPr>
            <a:r>
              <a:t>• 24 months runway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Revenue Growth Trajectory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2801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Cap Table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Vocca AI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1168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Employees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Series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Series B (Proposed)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Key Points:</a:t>
            </a:r>
          </a:p>
          <a:p>
            <a:pPr>
              <a:defRPr sz="1000"/>
            </a:pPr>
            <a:r>
              <a:t>• Strong founder retention at 42%</a:t>
            </a:r>
          </a:p>
          <a:p>
            <a:pPr>
              <a:defRPr sz="1000"/>
            </a:pPr>
            <a:r>
              <a:t>• Employee pool growing steadily</a:t>
            </a:r>
          </a:p>
          <a:p>
            <a:pPr>
              <a:defRPr sz="1000"/>
            </a:pPr>
            <a:r>
              <a:t>• Our investment: 12% for $18M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OffDeal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0" y="201168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Employees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Series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Series B (Proposed)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0" y="5029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Key Points:</a:t>
            </a:r>
          </a:p>
          <a:p>
            <a:pPr>
              <a:defRPr sz="1000"/>
            </a:pPr>
            <a:r>
              <a:t>• Founders at 35% post-Series B</a:t>
            </a:r>
          </a:p>
          <a:p>
            <a:pPr>
              <a:defRPr sz="1000"/>
            </a:pPr>
            <a:r>
              <a:t>• Strong investor interest</a:t>
            </a:r>
          </a:p>
          <a:p>
            <a:pPr>
              <a:defRPr sz="1000"/>
            </a:pPr>
            <a:r>
              <a:t>• Our investment: 10% for $20M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Market Opportunity (TAM Analysis)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2801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Valuation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2801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Exit Scenario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Vocca AI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6858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[BAR VISUALIZATION]</a:t>
            </a:r>
          </a:p>
          <a:p/>
          <a:p>
            <a:pPr>
              <a:defRPr sz="1000"/>
            </a:pPr>
            <a:r>
              <a:t>Bear (3x): 3</a:t>
            </a:r>
          </a:p>
          <a:p>
            <a:pPr>
              <a:defRPr sz="1000"/>
            </a:pPr>
            <a:r>
              <a:t>Base (10x): 10</a:t>
            </a:r>
          </a:p>
          <a:p>
            <a:pPr>
              <a:defRPr sz="1000"/>
            </a:pPr>
            <a:r>
              <a:t>Bull (25x):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Investment: $18M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Bear Return: $54M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Base Return: $180M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Bull Return: $450M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0408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IRR Range: 25-65%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3716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OffDeal Returns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011680"/>
            <a:ext cx="6858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[BAR VISUALIZATION]</a:t>
            </a:r>
          </a:p>
          <a:p/>
          <a:p>
            <a:pPr>
              <a:defRPr sz="1000"/>
            </a:pPr>
            <a:r>
              <a:t>Bear (2.5x): 2</a:t>
            </a:r>
          </a:p>
          <a:p>
            <a:pPr>
              <a:defRPr sz="1000"/>
            </a:pPr>
            <a:r>
              <a:t>Base (8x): 8</a:t>
            </a:r>
          </a:p>
          <a:p>
            <a:pPr>
              <a:defRPr sz="1000"/>
            </a:pPr>
            <a:r>
              <a:t>Bull (20x):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2120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Investment: $20M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6692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Bear Return: $50M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1264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Base Return: $160M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836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Bull Return: $400M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70408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IRR Range: 20-55%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Both companies demonstrate strong product-market fit with 200%+ growth</a:t>
            </a:r>
          </a:p>
          <a:p>
            <a:pPr/>
            <a:r>
              <a:t>Labor budget arbitrage thesis validated: replacing $2-3 of labor with $1 of AI</a:t>
            </a:r>
          </a:p>
          <a:p>
            <a:pPr/>
            <a:r>
              <a:t>Vertical SaaS approach (healthcare, M&amp;A) provides defensibility</a:t>
            </a:r>
          </a:p>
          <a:p>
            <a:pPr/>
            <a:r>
              <a:t>GPU cost ratios improving: Vocca at 35%, OffDeal at 7.5% of revenue</a:t>
            </a:r>
          </a:p>
          <a:p>
            <a:pPr/>
            <a:r>
              <a:t>Strong founder teams with domain expertise and high retention</a:t>
            </a:r>
          </a:p>
          <a:p>
            <a:br/>
            <a:pPr>
              <a:defRPr b="1"/>
            </a:pPr>
            <a:r>
              <a:t>Key Metrics:</a:t>
            </a:r>
          </a:p>
          <a:p>
            <a:pPr lvl="1"/>
            <a:r>
              <a:t>Total Investment: $38M</a:t>
            </a:r>
          </a:p>
          <a:p>
            <a:pPr lvl="1"/>
            <a:r>
              <a:t>Blended Ownership: 11%</a:t>
            </a:r>
          </a:p>
          <a:p>
            <a:pPr lvl="1"/>
            <a:r>
              <a:t>Expected MOIC: 9x (Base Case)</a:t>
            </a:r>
          </a:p>
          <a:p>
            <a:pPr lvl="1"/>
            <a:r>
              <a:t>Target Exit: 2028-2030</a:t>
            </a:r>
          </a:p>
          <a:p>
            <a:pPr lvl="1"/>
            <a:r>
              <a:t>Portfolio IRR: 45%+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Week 1-2: Complete technical due diligence on both companies</a:t>
            </a:r>
          </a:p>
          <a:p>
            <a:pPr/>
            <a:r>
              <a:t>Week 3: Negotiate term sheets with target valuations</a:t>
            </a:r>
          </a:p>
          <a:p>
            <a:pPr/>
            <a:r>
              <a:t>Week 4-5: Legal due diligence and documentation</a:t>
            </a:r>
          </a:p>
          <a:p>
            <a:pPr/>
            <a:r>
              <a:t>Week 6: Investment committee approval</a:t>
            </a:r>
          </a:p>
          <a:p>
            <a:pPr/>
            <a:r>
              <a:t>Week 7-8: Close investments and board seat negotiations</a:t>
            </a:r>
          </a:p>
          <a:p>
            <a:pPr/>
            <a:r>
              <a:t>Ongoing: Monthly board meetings and quarterly portfolio reviews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